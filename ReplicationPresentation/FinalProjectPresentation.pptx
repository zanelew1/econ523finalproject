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Playfair Display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jDZVp98lZqQ8ff6nv28oVATQoL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c714233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c714233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c7142334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dc7142334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c7142334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3dc7142334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c7142334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dc7142334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c7142334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3dc7142334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Government sponsored enterprises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c7142334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dc7142334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c7142334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dc7142334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c7142334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dc7142334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c7142334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dc7142334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1b8dc83e9_0_1965"/>
          <p:cNvSpPr/>
          <p:nvPr/>
        </p:nvSpPr>
        <p:spPr>
          <a:xfrm>
            <a:off x="3665400" y="998400"/>
            <a:ext cx="4861200" cy="48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g3e1b8dc83e9_0_1965"/>
          <p:cNvSpPr/>
          <p:nvPr/>
        </p:nvSpPr>
        <p:spPr>
          <a:xfrm>
            <a:off x="3990600" y="1323600"/>
            <a:ext cx="4210800" cy="42108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g3e1b8dc83e9_0_1965"/>
          <p:cNvSpPr txBox="1">
            <a:spLocks noGrp="1"/>
          </p:cNvSpPr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Google Shape;13;g3e1b8dc83e9_0_1965"/>
          <p:cNvSpPr txBox="1">
            <a:spLocks noGrp="1"/>
          </p:cNvSpPr>
          <p:nvPr>
            <p:ph type="subTitle" idx="1"/>
          </p:nvPr>
        </p:nvSpPr>
        <p:spPr>
          <a:xfrm>
            <a:off x="4128483" y="4355907"/>
            <a:ext cx="3935100" cy="935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Google Shape;14;g3e1b8dc83e9_0_1965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1b8dc83e9_0_1971"/>
          <p:cNvSpPr txBox="1">
            <a:spLocks noGrp="1"/>
          </p:cNvSpPr>
          <p:nvPr>
            <p:ph type="title"/>
          </p:nvPr>
        </p:nvSpPr>
        <p:spPr>
          <a:xfrm>
            <a:off x="679400" y="1898500"/>
            <a:ext cx="10833300" cy="23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g3e1b8dc83e9_0_1971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e1b8dc83e9_0_197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g3e1b8dc83e9_0_1974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3e1b8dc83e9_0_197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3e1b8dc83e9_0_1974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1b8dc83e9_0_1979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e1b8dc83e9_0_19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g3e1b8dc83e9_0_1979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e1b8dc83e9_0_197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1b8dc83e9_0_1984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e1b8dc83e9_0_1984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1b8dc83e9_0_198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3" name="Google Shape;33;g3e1b8dc83e9_0_1987"/>
          <p:cNvSpPr txBox="1">
            <a:spLocks noGrp="1"/>
          </p:cNvSpPr>
          <p:nvPr>
            <p:ph type="body" idx="1"/>
          </p:nvPr>
        </p:nvSpPr>
        <p:spPr>
          <a:xfrm>
            <a:off x="415600" y="185517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" name="Google Shape;34;g3e1b8dc83e9_0_1987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1b8dc83e9_0_1991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g3e1b8dc83e9_0_1991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e1b8dc83e9_0_1994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g3e1b8dc83e9_0_1994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g3e1b8dc83e9_0_1994"/>
          <p:cNvSpPr txBox="1">
            <a:spLocks noGrp="1"/>
          </p:cNvSpPr>
          <p:nvPr>
            <p:ph type="title"/>
          </p:nvPr>
        </p:nvSpPr>
        <p:spPr>
          <a:xfrm>
            <a:off x="354000" y="1477267"/>
            <a:ext cx="5393700" cy="2244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e1b8dc83e9_0_1994"/>
          <p:cNvSpPr txBox="1">
            <a:spLocks noGrp="1"/>
          </p:cNvSpPr>
          <p:nvPr>
            <p:ph type="subTitle" idx="1"/>
          </p:nvPr>
        </p:nvSpPr>
        <p:spPr>
          <a:xfrm>
            <a:off x="354000" y="3793601"/>
            <a:ext cx="5393700" cy="179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e1b8dc83e9_0_1994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g3e1b8dc83e9_0_1994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e1b8dc83e9_0_2001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e1b8dc83e9_0_2001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1b8dc83e9_0_200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e1b8dc83e9_0_2004"/>
          <p:cNvSpPr txBox="1">
            <a:spLocks noGrp="1"/>
          </p:cNvSpPr>
          <p:nvPr>
            <p:ph type="title" hasCustomPrompt="1"/>
          </p:nvPr>
        </p:nvSpPr>
        <p:spPr>
          <a:xfrm>
            <a:off x="415600" y="1644133"/>
            <a:ext cx="11360700" cy="214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g3e1b8dc83e9_0_2004"/>
          <p:cNvSpPr txBox="1">
            <a:spLocks noGrp="1"/>
          </p:cNvSpPr>
          <p:nvPr>
            <p:ph type="body" idx="1"/>
          </p:nvPr>
        </p:nvSpPr>
        <p:spPr>
          <a:xfrm>
            <a:off x="415600" y="3892600"/>
            <a:ext cx="11360700" cy="142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3e1b8dc83e9_0_2004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1b8dc83e9_0_200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1b8dc83e9_0_20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e1b8dc83e9_0_20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g3e1b8dc83e9_0_20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1b8dc83e9_0_20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3e1b8dc83e9_0_20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1b8dc83e9_0_1961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g3e1b8dc83e9_0_196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g3e1b8dc83e9_0_1961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1"/>
          <p:cNvGrpSpPr/>
          <p:nvPr/>
        </p:nvGrpSpPr>
        <p:grpSpPr>
          <a:xfrm>
            <a:off x="0" y="3296011"/>
            <a:ext cx="12192000" cy="3561989"/>
            <a:chOff x="0" y="3296011"/>
            <a:chExt cx="12192000" cy="3561989"/>
          </a:xfrm>
        </p:grpSpPr>
        <p:grpSp>
          <p:nvGrpSpPr>
            <p:cNvPr id="67" name="Google Shape;67;p1"/>
            <p:cNvGrpSpPr/>
            <p:nvPr/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68" name="Google Shape;68;p1"/>
              <p:cNvSpPr/>
              <p:nvPr/>
            </p:nvSpPr>
            <p:spPr>
              <a:xfrm>
                <a:off x="0" y="3681702"/>
                <a:ext cx="12192000" cy="3176298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3176298" extrusionOk="0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0" y="3681702"/>
                <a:ext cx="12192000" cy="3176298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3176298" extrusionOk="0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lt1">
                  <a:alpha val="14117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1"/>
            <p:cNvGrpSpPr/>
            <p:nvPr/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71" name="Google Shape;71;p1"/>
              <p:cNvSpPr/>
              <p:nvPr/>
            </p:nvSpPr>
            <p:spPr>
              <a:xfrm>
                <a:off x="544" y="3296011"/>
                <a:ext cx="12191456" cy="2849975"/>
              </a:xfrm>
              <a:custGeom>
                <a:avLst/>
                <a:gdLst/>
                <a:ahLst/>
                <a:cxnLst/>
                <a:rect l="l" t="t" r="r" b="b"/>
                <a:pathLst>
                  <a:path w="6095524" h="1424940" extrusionOk="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544" y="3296011"/>
                <a:ext cx="12191456" cy="2849975"/>
              </a:xfrm>
              <a:custGeom>
                <a:avLst/>
                <a:gdLst/>
                <a:ahLst/>
                <a:cxnLst/>
                <a:rect l="l" t="t" r="r" b="b"/>
                <a:pathLst>
                  <a:path w="6095524" h="1424940" extrusionOk="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 rotWithShape="1"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sz="7200">
                <a:solidFill>
                  <a:schemeClr val="lt1"/>
                </a:solidFill>
              </a:rPr>
              <a:t>Replication and Extension 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79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>
                <a:solidFill>
                  <a:schemeClr val="lt1"/>
                </a:solidFill>
              </a:rPr>
              <a:t>Heterogenous Spillovers of Housing Credit Policy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>
                <a:solidFill>
                  <a:schemeClr val="lt1"/>
                </a:solidFill>
              </a:rPr>
              <a:t>Pidkuyko 2023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>
                <a:solidFill>
                  <a:schemeClr val="lt1"/>
                </a:solidFill>
              </a:rPr>
              <a:t>Connor Lewis and Prashant Bista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r>
              <a:rPr lang="en-US" sz="1600">
                <a:solidFill>
                  <a:schemeClr val="lt1"/>
                </a:solidFill>
              </a:rPr>
              <a:t>14 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0" name="Google Shape;80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is the shock (Connor)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Context of paper (Prashant)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Identification Strategy (Prashant)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(Connor)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Theoretical Framework (Connor)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Empirical Framework (Connor)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 does the ID Strategy work (Prashant)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Main findings/results (Connor)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Key assumptions (Prashant)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Threats to interpretation (Prashant)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71423349_0_0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dc71423349_0_0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c71423349_0_0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c71423349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>
                <a:solidFill>
                  <a:srgbClr val="FFFFFF"/>
                </a:solidFill>
              </a:rPr>
              <a:t>What is the shock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7B977-FFA8-78CB-EA54-E027652CE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78499"/>
            <a:ext cx="11360700" cy="4213333"/>
          </a:xfrm>
        </p:spPr>
        <p:txBody>
          <a:bodyPr/>
          <a:lstStyle/>
          <a:p>
            <a:pPr lvl="0">
              <a:lnSpc>
                <a:spcPct val="90000"/>
              </a:lnSpc>
              <a:buSzPts val="1700"/>
            </a:pPr>
            <a:r>
              <a:rPr lang="en-US" dirty="0"/>
              <a:t>Expansionary credit policy</a:t>
            </a:r>
          </a:p>
          <a:p>
            <a:pPr lvl="0">
              <a:lnSpc>
                <a:spcPct val="90000"/>
              </a:lnSpc>
              <a:buSzPts val="1700"/>
            </a:pPr>
            <a:endParaRPr lang="en-US" dirty="0"/>
          </a:p>
          <a:p>
            <a:pPr>
              <a:lnSpc>
                <a:spcPct val="90000"/>
              </a:lnSpc>
              <a:buSzPts val="1700"/>
            </a:pPr>
            <a:r>
              <a:rPr lang="en-US" dirty="0"/>
              <a:t>1% net increase in net purchases by FNMA and FHLMC anticipated 2 quarters ahead of time</a:t>
            </a:r>
          </a:p>
          <a:p>
            <a:pPr>
              <a:lnSpc>
                <a:spcPct val="90000"/>
              </a:lnSpc>
              <a:buSzPts val="1700"/>
            </a:pPr>
            <a:endParaRPr lang="en-US" dirty="0"/>
          </a:p>
          <a:p>
            <a:pPr>
              <a:lnSpc>
                <a:spcPct val="90000"/>
              </a:lnSpc>
              <a:buSzPts val="1700"/>
            </a:pPr>
            <a:r>
              <a:rPr lang="en-US" dirty="0"/>
              <a:t>Increase in government holding of mortgages via secondary market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71423349_0_5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400"/>
              <a:t>Context of Paper </a:t>
            </a:r>
          </a:p>
        </p:txBody>
      </p:sp>
      <p:sp>
        <p:nvSpPr>
          <p:cNvPr id="105" name="Google Shape;105;g3dc71423349_0_5"/>
          <p:cNvSpPr txBox="1">
            <a:spLocks noGrp="1"/>
          </p:cNvSpPr>
          <p:nvPr>
            <p:ph type="body" idx="4294967295"/>
          </p:nvPr>
        </p:nvSpPr>
        <p:spPr>
          <a:xfrm>
            <a:off x="415600" y="1547200"/>
            <a:ext cx="5489850" cy="4352544"/>
          </a:xfrm>
        </p:spPr>
        <p:txBody>
          <a:bodyPr spcFirstLastPara="1" lIns="91425" tIns="45700" rIns="91425" bIns="45700" anchor="t" anchorCtr="0">
            <a:normAutofit/>
          </a:bodyPr>
          <a:lstStyle/>
          <a:p>
            <a:pPr marL="457200" lvl="0" indent="-345281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lt1"/>
                </a:solidFill>
              </a:rPr>
              <a:t>Government activity in secondary mortgage markets affects mortgage lending and interest rates</a:t>
            </a:r>
          </a:p>
          <a:p>
            <a:pPr marL="45720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700" b="0" i="0" u="none" strike="noStrike" cap="none">
              <a:solidFill>
                <a:schemeClr val="lt1"/>
              </a:solidFill>
            </a:endParaRPr>
          </a:p>
          <a:p>
            <a:pPr marL="457200" lvl="0" indent="-345281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lt1"/>
                </a:solidFill>
              </a:rPr>
              <a:t>Expansionary credit policy increases agency purchases of mortgages</a:t>
            </a:r>
          </a:p>
          <a:p>
            <a:pPr marL="45720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700" b="0" i="0" u="none" strike="noStrike" cap="none">
              <a:solidFill>
                <a:schemeClr val="lt1"/>
              </a:solidFill>
            </a:endParaRPr>
          </a:p>
          <a:p>
            <a:pPr marL="457200" lvl="0" indent="-345281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lt1"/>
                </a:solidFill>
              </a:rPr>
              <a:t>Lower mortgage rates may increase household consumption</a:t>
            </a:r>
          </a:p>
          <a:p>
            <a:pPr marL="45720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700" b="0" i="0" u="none" strike="noStrike" cap="none">
              <a:solidFill>
                <a:schemeClr val="lt1"/>
              </a:solidFill>
            </a:endParaRPr>
          </a:p>
          <a:p>
            <a:pPr marL="457200" lvl="0" indent="-345281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lt1"/>
                </a:solidFill>
              </a:rPr>
              <a:t>Paper studies how these policy interventions affect the largest component of GDP: household spending</a:t>
            </a:r>
          </a:p>
          <a:p>
            <a:pPr marL="38100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45834"/>
              <a:buFont typeface="Arial"/>
              <a:buNone/>
            </a:pPr>
            <a:endParaRPr lang="en-US" sz="1700" b="0" i="0" u="none" strike="noStrike" cap="none">
              <a:solidFill>
                <a:schemeClr val="lt1"/>
              </a:solidFill>
            </a:endParaRPr>
          </a:p>
          <a:p>
            <a:pPr marL="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136364"/>
              <a:buFont typeface="Arial"/>
              <a:buNone/>
            </a:pPr>
            <a:endParaRPr lang="en-US" sz="1700" b="0" i="0" u="none" strike="noStrike" cap="none">
              <a:solidFill>
                <a:schemeClr val="lt1"/>
              </a:solidFill>
            </a:endParaRPr>
          </a:p>
        </p:txBody>
      </p:sp>
      <p:pic>
        <p:nvPicPr>
          <p:cNvPr id="106" name="Google Shape;106;g3dc71423349_0_5"/>
          <p:cNvPicPr preferRelativeResize="0"/>
          <p:nvPr/>
        </p:nvPicPr>
        <p:blipFill rotWithShape="1">
          <a:blip r:embed="rId3"/>
          <a:srcRect l="11611" r="32637" b="-1"/>
          <a:stretch>
            <a:fillRect/>
          </a:stretch>
        </p:blipFill>
        <p:spPr>
          <a:xfrm>
            <a:off x="6286450" y="1547200"/>
            <a:ext cx="5489850" cy="435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71423349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Identification Strategy </a:t>
            </a:r>
            <a:endParaRPr/>
          </a:p>
        </p:txBody>
      </p:sp>
      <p:sp>
        <p:nvSpPr>
          <p:cNvPr id="112" name="Google Shape;112;g3dc71423349_0_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4"/>
              <a:buFont typeface="Arial"/>
              <a:buNone/>
            </a:pPr>
            <a:endParaRPr dirty="0"/>
          </a:p>
          <a:p>
            <a:pPr marL="457200" lvl="0" indent="-307986" algn="l" rtl="0">
              <a:spcBef>
                <a:spcPts val="1200"/>
              </a:spcBef>
              <a:spcAft>
                <a:spcPts val="0"/>
              </a:spcAft>
              <a:buSzPct val="75760"/>
              <a:buChar char="•"/>
            </a:pPr>
            <a:r>
              <a:rPr lang="en-US" sz="4125" dirty="0"/>
              <a:t>Expansionary credit policy is endogenous to the business cycle</a:t>
            </a:r>
            <a:endParaRPr sz="4125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125" dirty="0"/>
          </a:p>
          <a:p>
            <a:pPr marL="457200" lvl="0" indent="-307986" algn="l" rtl="0">
              <a:spcBef>
                <a:spcPts val="1200"/>
              </a:spcBef>
              <a:spcAft>
                <a:spcPts val="0"/>
              </a:spcAft>
              <a:buSzPct val="75760"/>
              <a:buChar char="•"/>
            </a:pPr>
            <a:r>
              <a:rPr lang="en-US" sz="4125" dirty="0"/>
              <a:t>Agency purchases may respond to economic conditions</a:t>
            </a:r>
            <a:endParaRPr sz="4125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125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4500" dirty="0"/>
              <a:t>Authors use narrative news shocks as instruments (</a:t>
            </a:r>
            <a:r>
              <a:rPr lang="en-US" sz="4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 long range goal to increase access to home ownership in US)</a:t>
            </a:r>
            <a:endParaRPr sz="4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125" dirty="0"/>
          </a:p>
          <a:p>
            <a:pPr marL="457200" lvl="0" indent="-307986" algn="l" rtl="0">
              <a:spcBef>
                <a:spcPts val="1200"/>
              </a:spcBef>
              <a:spcAft>
                <a:spcPts val="0"/>
              </a:spcAft>
              <a:buSzPct val="75760"/>
              <a:buChar char="•"/>
            </a:pPr>
            <a:r>
              <a:rPr lang="en-US" sz="4125" dirty="0"/>
              <a:t>Fieldhouse &amp; Mertens (2017) identify policy shocks unrelated to short-run business cycle movements</a:t>
            </a:r>
            <a:endParaRPr sz="4125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125" dirty="0"/>
          </a:p>
          <a:p>
            <a:pPr marL="457200" lvl="0" indent="-307986" algn="l" rtl="0">
              <a:spcBef>
                <a:spcPts val="1200"/>
              </a:spcBef>
              <a:spcAft>
                <a:spcPts val="0"/>
              </a:spcAft>
              <a:buSzPct val="75760"/>
              <a:buChar char="•"/>
            </a:pPr>
            <a:r>
              <a:rPr lang="en-US" sz="4125" dirty="0"/>
              <a:t>Estimation uses IV Local Projections</a:t>
            </a:r>
            <a:endParaRPr sz="4125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200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c71423349_0_15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dc71423349_0_15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dist="304800" dir="7140000" sx="90000" sy="9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dc71423349_0_15"/>
          <p:cNvSpPr txBox="1"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Data</a:t>
            </a:r>
            <a:endParaRPr/>
          </a:p>
        </p:txBody>
      </p:sp>
      <p:sp>
        <p:nvSpPr>
          <p:cNvPr id="120" name="Google Shape;120;g3dc71423349_0_15"/>
          <p:cNvSpPr txBox="1">
            <a:spLocks noGrp="1"/>
          </p:cNvSpPr>
          <p:nvPr>
            <p:ph type="body" idx="1"/>
          </p:nvPr>
        </p:nvSpPr>
        <p:spPr>
          <a:xfrm>
            <a:off x="761802" y="2324912"/>
            <a:ext cx="4646905" cy="403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Compilation of Consumer Expenditure Survey (BLS and ICPSR)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Survey of Consumer Finances (Federal Reserve)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Set of macro variables from FRED and researcher calculations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Use Fieldhouse and Mertens (2017) for the news shocks series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Extension: used compilation of consumer expenditure to create groups based on race, education level, and family size</a:t>
            </a:r>
            <a:endParaRPr/>
          </a:p>
        </p:txBody>
      </p:sp>
      <p:pic>
        <p:nvPicPr>
          <p:cNvPr id="121" name="Google Shape;121;g3dc71423349_0_15" descr="Office building overlayed with stock market graphs"/>
          <p:cNvPicPr preferRelativeResize="0"/>
          <p:nvPr/>
        </p:nvPicPr>
        <p:blipFill rotWithShape="1">
          <a:blip r:embed="rId3">
            <a:alphaModFix/>
          </a:blip>
          <a:srcRect l="40823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c71423349_0_20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dc71423349_0_20"/>
          <p:cNvSpPr txBox="1"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>
                <a:solidFill>
                  <a:schemeClr val="lt1"/>
                </a:solidFill>
              </a:rPr>
              <a:t>Theoretical Framework</a:t>
            </a:r>
            <a:endParaRPr/>
          </a:p>
        </p:txBody>
      </p:sp>
      <p:sp>
        <p:nvSpPr>
          <p:cNvPr id="128" name="Google Shape;128;g3dc71423349_0_20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dc71423349_0_20"/>
          <p:cNvSpPr/>
          <p:nvPr/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dc71423349_0_20"/>
          <p:cNvSpPr txBox="1">
            <a:spLocks noGrp="1"/>
          </p:cNvSpPr>
          <p:nvPr>
            <p:ph type="body" idx="1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Gov (GSEs) purchases mortgages in secondary market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Decreases risk and cost for primary market lenders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Lower prices (mortgage rates)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Cheaper mortgages frees up spending, i.e. consumption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This policy lever can stimulate GDP growth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>
                <a:solidFill>
                  <a:schemeClr val="lt1"/>
                </a:solidFill>
              </a:rPr>
              <a:t>Theoretical Framework: Heterogeneous Agent Life-Cycle Model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>
            <a:spLocks noGrp="1"/>
          </p:cNvSpPr>
          <p:nvPr>
            <p:ph type="body" idx="1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Huggett (1996) heterogeneous agent life-cycle model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Mechanisms of empirical results: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Agency purchases push down mortgage rates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Lower rates improve refinancing options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refinancing reduces mortgage payments, allows for more spending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mortgagors use some relief for consumption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Though mechanism can raise home prices and homeownership, main mechanism is the effect on mortgage rates, spread between rates, refinancing incentives, and disposable cash 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>
                <a:solidFill>
                  <a:schemeClr val="lt1"/>
                </a:solidFill>
              </a:rPr>
              <a:t>Empirical Framework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1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IV Local Projection estimation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Effect of shock on nondurable consumption among different groups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IV needed for for exogeneity of treatment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Models: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Overall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Housing Tenure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Age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Race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Education Achievement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Family Size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c71423349_0_25"/>
          <p:cNvSpPr txBox="1">
            <a:spLocks noGrp="1"/>
          </p:cNvSpPr>
          <p:nvPr>
            <p:ph type="title"/>
          </p:nvPr>
        </p:nvSpPr>
        <p:spPr>
          <a:xfrm>
            <a:off x="729342" y="111902"/>
            <a:ext cx="9394371" cy="143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Empirical Framework: Estimating Equation</a:t>
            </a:r>
            <a:endParaRPr/>
          </a:p>
        </p:txBody>
      </p:sp>
      <p:cxnSp>
        <p:nvCxnSpPr>
          <p:cNvPr id="154" name="Google Shape;154;g3dc71423349_0_25"/>
          <p:cNvCxnSpPr/>
          <p:nvPr/>
        </p:nvCxnSpPr>
        <p:spPr>
          <a:xfrm>
            <a:off x="865140" y="871146"/>
            <a:ext cx="736939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g3dc71423349_0_25"/>
          <p:cNvSpPr txBox="1">
            <a:spLocks noGrp="1"/>
          </p:cNvSpPr>
          <p:nvPr>
            <p:ph type="body" idx="1"/>
          </p:nvPr>
        </p:nvSpPr>
        <p:spPr>
          <a:xfrm>
            <a:off x="729342" y="3269395"/>
            <a:ext cx="10410704" cy="3276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Control variables Z: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lagged growth rates of core PCE price index, nominal house price index, and total mortgage debt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log level of real mortgage originations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housing starts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lags of interest rate variables: 3-month t bill, 10yr treasury, mortgage interest rate, BAA-AAA corporate bond spread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Response d.y: household expenditure on non-durable goods and services (and other macro variables)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Parentheses: net agency purchases over 2 quarter period/annualized originations</a:t>
            </a:r>
            <a:endParaRPr/>
          </a:p>
        </p:txBody>
      </p:sp>
      <p:pic>
        <p:nvPicPr>
          <p:cNvPr id="156" name="Google Shape;156;g3dc71423349_0_25" title="Screenshot 2026-05-09 at 2.22.24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794" y="1328781"/>
            <a:ext cx="10591800" cy="1535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c71423349_0_40"/>
          <p:cNvSpPr txBox="1">
            <a:spLocks noGrp="1"/>
          </p:cNvSpPr>
          <p:nvPr>
            <p:ph type="title"/>
          </p:nvPr>
        </p:nvSpPr>
        <p:spPr>
          <a:xfrm>
            <a:off x="462225" y="2147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Key Assumptions </a:t>
            </a:r>
            <a:endParaRPr/>
          </a:p>
        </p:txBody>
      </p:sp>
      <p:sp>
        <p:nvSpPr>
          <p:cNvPr id="162" name="Google Shape;162;g3dc71423349_0_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marR="381000" lvl="0" indent="-31305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00"/>
              <a:buChar char="•"/>
            </a:pPr>
            <a:r>
              <a:rPr lang="en-US" sz="2500"/>
              <a:t>News shocks are orthogonal to the business cycle</a:t>
            </a:r>
            <a:endParaRPr sz="2500"/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00"/>
          </a:p>
          <a:p>
            <a:pPr marL="457200" marR="381000" lvl="0" indent="-31305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00"/>
              <a:buChar char="•"/>
            </a:pPr>
            <a:r>
              <a:rPr lang="en-US" sz="2500"/>
              <a:t>Instrument affects consumption only through agency purchase activity (IV exclusion)</a:t>
            </a:r>
            <a:endParaRPr sz="2500"/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00"/>
          </a:p>
          <a:p>
            <a:pPr marL="457200" marR="381000" lvl="0" indent="-31305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00"/>
              <a:buChar char="•"/>
            </a:pPr>
            <a:r>
              <a:rPr lang="en-US" sz="2500"/>
              <a:t>Outcome variables are stationary after differencing</a:t>
            </a:r>
            <a:endParaRPr sz="2500"/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00"/>
          </a:p>
          <a:p>
            <a:pPr marL="457200" marR="381000" lvl="0" indent="-31305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00"/>
              <a:buChar char="•"/>
            </a:pPr>
            <a:r>
              <a:rPr lang="en-US" sz="2500"/>
              <a:t>Lag structure correctly captures dynamic responses</a:t>
            </a:r>
            <a:endParaRPr sz="2500"/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00"/>
          </a:p>
          <a:p>
            <a:pPr marL="457200" marR="381000" lvl="0" indent="-31305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00"/>
              <a:buChar char="•"/>
            </a:pPr>
            <a:r>
              <a:rPr lang="en-US" sz="2500"/>
              <a:t>Heterogeneous effects can be consistently estimated across groups</a:t>
            </a:r>
            <a:endParaRPr sz="2500"/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4"/>
              <a:buFont typeface="Arial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36364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c71423349_0_30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400"/>
              <a:t>Why does the ID Strategy work? </a:t>
            </a:r>
          </a:p>
        </p:txBody>
      </p:sp>
      <p:sp>
        <p:nvSpPr>
          <p:cNvPr id="168" name="Google Shape;168;g3dc71423349_0_30"/>
          <p:cNvSpPr txBox="1">
            <a:spLocks noGrp="1"/>
          </p:cNvSpPr>
          <p:nvPr>
            <p:ph type="body" idx="4294967295"/>
          </p:nvPr>
        </p:nvSpPr>
        <p:spPr>
          <a:xfrm>
            <a:off x="415600" y="1547200"/>
            <a:ext cx="5489850" cy="4352544"/>
          </a:xfrm>
        </p:spPr>
        <p:txBody>
          <a:bodyPr spcFirstLastPara="1" lIns="91425" tIns="45700" rIns="91425" bIns="45700" anchor="t" anchorCtr="0">
            <a:normAutofit/>
          </a:bodyPr>
          <a:lstStyle/>
          <a:p>
            <a:pPr marL="457200" lvl="0" indent="-325755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500" b="0" i="0" u="none" strike="noStrike" cap="none">
                <a:solidFill>
                  <a:schemeClr val="lt1"/>
                </a:solidFill>
              </a:rPr>
              <a:t>Policy shocks are constructed to be unrelated to short-run business cycle </a:t>
            </a:r>
          </a:p>
          <a:p>
            <a:pPr marL="45720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</a:rPr>
              <a:t>conditions</a:t>
            </a:r>
          </a:p>
          <a:p>
            <a:pPr marL="45720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500" b="0" i="0" u="none" strike="noStrike" cap="none">
              <a:solidFill>
                <a:schemeClr val="lt1"/>
              </a:solidFill>
            </a:endParaRPr>
          </a:p>
          <a:p>
            <a:pPr marL="457200" lvl="0" indent="-325755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500" b="0" i="0" u="none" strike="noStrike" cap="none">
                <a:solidFill>
                  <a:schemeClr val="lt1"/>
                </a:solidFill>
              </a:rPr>
              <a:t>Narrative news shocks isolate exogenous variation in agency mortgage purchases</a:t>
            </a:r>
          </a:p>
          <a:p>
            <a:pPr marL="45720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500" b="0" i="0" u="none" strike="noStrike" cap="none">
              <a:solidFill>
                <a:schemeClr val="lt1"/>
              </a:solidFill>
            </a:endParaRPr>
          </a:p>
          <a:p>
            <a:pPr marL="457200" lvl="0" indent="-325755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500" b="0" i="0" u="none" strike="noStrike" cap="none">
                <a:solidFill>
                  <a:schemeClr val="lt1"/>
                </a:solidFill>
              </a:rPr>
              <a:t>Instruments affect mortgage market activity directly</a:t>
            </a:r>
          </a:p>
          <a:p>
            <a:pPr marL="45720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500" b="0" i="0" u="none" strike="noStrike" cap="none">
              <a:solidFill>
                <a:schemeClr val="lt1"/>
              </a:solidFill>
            </a:endParaRPr>
          </a:p>
          <a:p>
            <a:pPr marL="457200" lvl="0" indent="-325755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500" b="0" i="0" u="none" strike="noStrike" cap="none">
                <a:solidFill>
                  <a:schemeClr val="lt1"/>
                </a:solidFill>
              </a:rPr>
              <a:t>IV Local Projections trace dynamic responses over time</a:t>
            </a:r>
          </a:p>
          <a:p>
            <a:pPr marL="45720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500" b="0" i="0" u="none" strike="noStrike" cap="none">
              <a:solidFill>
                <a:schemeClr val="lt1"/>
              </a:solidFill>
            </a:endParaRPr>
          </a:p>
          <a:p>
            <a:pPr marL="457200" lvl="0" indent="-325755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500" b="0" i="0" u="none" strike="noStrike" cap="none">
                <a:solidFill>
                  <a:schemeClr val="lt1"/>
                </a:solidFill>
              </a:rPr>
              <a:t>Helps separate causal effects from endogenous policy responses</a:t>
            </a:r>
          </a:p>
          <a:p>
            <a:pPr marL="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ct val="88235"/>
              <a:buFont typeface="Arial"/>
              <a:buNone/>
            </a:pPr>
            <a:endParaRPr lang="en-US" sz="1500" b="0" i="0" u="none" strike="noStrike" cap="none">
              <a:solidFill>
                <a:schemeClr val="lt1"/>
              </a:solidFill>
            </a:endParaRPr>
          </a:p>
        </p:txBody>
      </p:sp>
      <p:pic>
        <p:nvPicPr>
          <p:cNvPr id="169" name="Google Shape;169;g3dc71423349_0_30"/>
          <p:cNvPicPr preferRelativeResize="0"/>
          <p:nvPr/>
        </p:nvPicPr>
        <p:blipFill rotWithShape="1">
          <a:blip r:embed="rId3"/>
          <a:srcRect l="31649" r="21052"/>
          <a:stretch>
            <a:fillRect/>
          </a:stretch>
        </p:blipFill>
        <p:spPr>
          <a:xfrm>
            <a:off x="6286450" y="1547200"/>
            <a:ext cx="5489850" cy="435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7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>
                <a:solidFill>
                  <a:srgbClr val="FFFFFF"/>
                </a:solidFill>
              </a:rPr>
              <a:t>Replication findings/results</a:t>
            </a:r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1"/>
          </p:nvPr>
        </p:nvSpPr>
        <p:spPr>
          <a:xfrm>
            <a:off x="838200" y="1791951"/>
            <a:ext cx="10515600" cy="4813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Expansionary credit policy increases overall consumption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Heterogeneous effects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Homeowners with mortgage debt: significant increase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Non-homeowners: smaller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Homeowners without mortgaincreasege debt: small, insignificant effect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Young and middle aged: strong positive response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Old: no significant response</a:t>
            </a:r>
            <a:endParaRPr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Distributional concerns: households with mortgage debt gain more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Renters could reduce spending bc lower rates may incentivize saving for homeownership</a:t>
            </a:r>
            <a:endParaRPr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Replication confirms results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Replication IRFs Overall</a:t>
            </a:r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5307" y="1675227"/>
            <a:ext cx="8701385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 txBox="1">
            <a:spLocks noGrp="1"/>
          </p:cNvSpPr>
          <p:nvPr>
            <p:ph type="title"/>
          </p:nvPr>
        </p:nvSpPr>
        <p:spPr>
          <a:xfrm>
            <a:off x="717423" y="1967266"/>
            <a:ext cx="2940177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Replication IRFs</a:t>
            </a:r>
            <a:b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dirty="0"/>
          </a:p>
        </p:txBody>
      </p:sp>
      <p:pic>
        <p:nvPicPr>
          <p:cNvPr id="193" name="Google Shape;19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7316" y="783363"/>
            <a:ext cx="6780700" cy="5288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/>
        </p:nvSpPr>
        <p:spPr>
          <a:xfrm rot="-5400000">
            <a:off x="689039" y="1380281"/>
            <a:ext cx="3333749" cy="3721226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>
            <a:spLocks noGrp="1"/>
          </p:cNvSpPr>
          <p:nvPr>
            <p:ph type="title"/>
          </p:nvPr>
        </p:nvSpPr>
        <p:spPr>
          <a:xfrm>
            <a:off x="749300" y="1967266"/>
            <a:ext cx="29083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Replication IRFs</a:t>
            </a:r>
            <a:b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Housing Tenure</a:t>
            </a:r>
            <a:endParaRPr dirty="0"/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3609" y="643466"/>
            <a:ext cx="6328113" cy="556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>
                <a:solidFill>
                  <a:srgbClr val="FFFFFF"/>
                </a:solidFill>
              </a:rPr>
              <a:t>Extension Findings/Results</a:t>
            </a:r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body" idx="1"/>
          </p:nvPr>
        </p:nvSpPr>
        <p:spPr>
          <a:xfrm>
            <a:off x="838200" y="1791951"/>
            <a:ext cx="10515600" cy="4813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Investigated heterogeneous effects in other subgroups of population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8288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Race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Black, white, other</a:t>
            </a:r>
            <a:endParaRPr/>
          </a:p>
          <a:p>
            <a:pPr marL="18288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Educational attainment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 HS degree, HS degree, college degree</a:t>
            </a:r>
            <a:endParaRPr/>
          </a:p>
          <a:p>
            <a:pPr marL="18288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Family size/household size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Single person, two-person, family (3+)</a:t>
            </a:r>
            <a:endParaRPr/>
          </a:p>
          <a:p>
            <a:pPr marL="18288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8288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Found disparities in the distribution of treatment effects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White households benefit the most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Black households less and not significant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Other has no effect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Benefits increase with degree achievement</a:t>
            </a:r>
            <a:endParaRPr/>
          </a:p>
          <a:p>
            <a:pPr marL="64008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Benefits vary less with household size, but favor two-person and families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>
                <a:solidFill>
                  <a:srgbClr val="FFFFFF"/>
                </a:solidFill>
              </a:rPr>
              <a:t>Extension Findings/Results</a:t>
            </a:r>
            <a:endParaRPr/>
          </a:p>
        </p:txBody>
      </p:sp>
      <p:grpSp>
        <p:nvGrpSpPr>
          <p:cNvPr id="220" name="Google Shape;220;p22"/>
          <p:cNvGrpSpPr/>
          <p:nvPr/>
        </p:nvGrpSpPr>
        <p:grpSpPr>
          <a:xfrm>
            <a:off x="737501" y="2566481"/>
            <a:ext cx="10740938" cy="3285000"/>
            <a:chOff x="93445" y="453902"/>
            <a:chExt cx="10740938" cy="3285000"/>
          </a:xfrm>
        </p:grpSpPr>
        <p:sp>
          <p:nvSpPr>
            <p:cNvPr id="221" name="Google Shape;221;p22"/>
            <p:cNvSpPr/>
            <p:nvPr/>
          </p:nvSpPr>
          <p:spPr>
            <a:xfrm>
              <a:off x="718664" y="453902"/>
              <a:ext cx="1955812" cy="1955812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1135476" y="870714"/>
              <a:ext cx="1122187" cy="112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POLICY EFFECTS HAVE LIMITED EFFECTS FOR THOSE WHO ARE  GENERALLY MARGINALIZED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4486008" y="453902"/>
              <a:ext cx="1955812" cy="1955812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rgbClr val="176B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4902820" y="870714"/>
              <a:ext cx="1122187" cy="112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PROVIDES EVIDENCE OF SUSTAINED IMPACT OF REDLINING 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8253352" y="453902"/>
              <a:ext cx="1955812" cy="1955812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rgbClr val="0C9E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8670164" y="870714"/>
              <a:ext cx="1122187" cy="112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IMPORTANT FOR POLICY MAKERS TO UNDERSTAND HOW IMPACTS VARY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Extension IRFs</a:t>
            </a:r>
            <a:b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Race</a:t>
            </a:r>
            <a:endParaRPr/>
          </a:p>
        </p:txBody>
      </p:sp>
      <p:pic>
        <p:nvPicPr>
          <p:cNvPr id="239" name="Google Shape;23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7316" y="1969985"/>
            <a:ext cx="6780700" cy="291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Extension IRFs</a:t>
            </a:r>
            <a:b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Education Level</a:t>
            </a:r>
            <a:endParaRPr dirty="0"/>
          </a:p>
        </p:txBody>
      </p:sp>
      <p:pic>
        <p:nvPicPr>
          <p:cNvPr id="246" name="Google Shape;24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7316" y="1995413"/>
            <a:ext cx="6780700" cy="2864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Extension IRFs</a:t>
            </a:r>
            <a:b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Size</a:t>
            </a:r>
            <a:endParaRPr dirty="0"/>
          </a:p>
        </p:txBody>
      </p:sp>
      <p:pic>
        <p:nvPicPr>
          <p:cNvPr id="253" name="Google Shape;25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7316" y="1842847"/>
            <a:ext cx="6780700" cy="31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c71423349_0_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Threats to Interpretation </a:t>
            </a:r>
            <a:endParaRPr/>
          </a:p>
        </p:txBody>
      </p:sp>
      <p:sp>
        <p:nvSpPr>
          <p:cNvPr id="259" name="Google Shape;259;g3dc71423349_0_45"/>
          <p:cNvSpPr txBox="1">
            <a:spLocks noGrp="1"/>
          </p:cNvSpPr>
          <p:nvPr>
            <p:ph type="body" idx="1"/>
          </p:nvPr>
        </p:nvSpPr>
        <p:spPr>
          <a:xfrm>
            <a:off x="711200" y="15499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4"/>
              <a:buFont typeface="Arial"/>
              <a:buNone/>
            </a:pPr>
            <a:endParaRPr dirty="0"/>
          </a:p>
          <a:p>
            <a:pPr marL="457200" lvl="0" indent="-363538" algn="l" rtl="0">
              <a:spcBef>
                <a:spcPts val="1200"/>
              </a:spcBef>
              <a:spcAft>
                <a:spcPts val="0"/>
              </a:spcAft>
              <a:buSzPct val="104167"/>
              <a:buChar char="•"/>
            </a:pPr>
            <a:r>
              <a:rPr lang="en-US" sz="2400" dirty="0"/>
              <a:t>Agency purchases may still respond to macroeconomic conditions</a:t>
            </a:r>
            <a:endParaRPr sz="2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3538" algn="l" rtl="0">
              <a:spcBef>
                <a:spcPts val="1200"/>
              </a:spcBef>
              <a:spcAft>
                <a:spcPts val="0"/>
              </a:spcAft>
              <a:buSzPct val="104167"/>
              <a:buChar char="•"/>
            </a:pPr>
            <a:r>
              <a:rPr lang="en-US" sz="2400" dirty="0"/>
              <a:t>Mortgage interventions can also affect broader interest rates and financial markets</a:t>
            </a:r>
            <a:endParaRPr sz="2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3538" algn="l" rtl="0">
              <a:spcBef>
                <a:spcPts val="1200"/>
              </a:spcBef>
              <a:spcAft>
                <a:spcPts val="0"/>
              </a:spcAft>
              <a:buSzPct val="104167"/>
              <a:buChar char="•"/>
            </a:pPr>
            <a:r>
              <a:rPr lang="en-US" sz="2400" dirty="0"/>
              <a:t>Difficult to fully isolate mortgage-channel effects from other transmission mechanisms</a:t>
            </a:r>
            <a:endParaRPr sz="2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3538" algn="l" rtl="0">
              <a:spcBef>
                <a:spcPts val="1200"/>
              </a:spcBef>
              <a:spcAft>
                <a:spcPts val="0"/>
              </a:spcAft>
              <a:buSzPct val="104167"/>
              <a:buChar char="•"/>
            </a:pPr>
            <a:r>
              <a:rPr lang="en-US" sz="2400" dirty="0"/>
              <a:t>Small number of policy intervention episodes limits statistical precision</a:t>
            </a:r>
            <a:endParaRPr sz="2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3538" algn="l" rtl="0">
              <a:spcBef>
                <a:spcPts val="1200"/>
              </a:spcBef>
              <a:spcAft>
                <a:spcPts val="0"/>
              </a:spcAft>
              <a:buSzPct val="104167"/>
              <a:buChar char="•"/>
            </a:pPr>
            <a:r>
              <a:rPr lang="en-US" sz="2400" dirty="0"/>
              <a:t>Potential omitted macroeconomic factors may still influence results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7143"/>
              <a:buNone/>
            </a:pPr>
            <a:endParaRPr dirty="0"/>
          </a:p>
        </p:txBody>
      </p:sp>
      <p:pic>
        <p:nvPicPr>
          <p:cNvPr id="260" name="Google Shape;260;g3dc71423349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1550" y="7085875"/>
            <a:ext cx="5250150" cy="16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26" descr="3D rendering of a red roof amidst white houses"/>
          <p:cNvPicPr preferRelativeResize="0"/>
          <p:nvPr/>
        </p:nvPicPr>
        <p:blipFill rotWithShape="1">
          <a:blip r:embed="rId3">
            <a:alphaModFix/>
          </a:blip>
          <a:srcRect l="28531" r="27094"/>
          <a:stretch/>
        </p:blipFill>
        <p:spPr>
          <a:xfrm>
            <a:off x="-1" y="-2"/>
            <a:ext cx="541019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/>
          <p:nvPr/>
        </p:nvSpPr>
        <p:spPr>
          <a:xfrm>
            <a:off x="5410197" y="-1"/>
            <a:ext cx="6781802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dist="152400" sx="95000" sy="95000" algn="t" rotWithShape="0">
              <a:srgbClr val="000000">
                <a:alpha val="2901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Conclusion</a:t>
            </a:r>
            <a:endParaRPr/>
          </a:p>
        </p:txBody>
      </p:sp>
      <p:sp>
        <p:nvSpPr>
          <p:cNvPr id="269" name="Google Shape;269;p26"/>
          <p:cNvSpPr txBox="1">
            <a:spLocks noGrp="1"/>
          </p:cNvSpPr>
          <p:nvPr>
            <p:ph type="body" idx="1"/>
          </p:nvPr>
        </p:nvSpPr>
        <p:spPr>
          <a:xfrm>
            <a:off x="6115317" y="2743200"/>
            <a:ext cx="5247340" cy="349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When the government intervenes in the secondary mortgage market, it provides relief that increases consumption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Can be a valid tool for reducing downturn effects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Disparities in distribution of effects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600" dirty="0"/>
              <a:t>Notable along racial, wealth, educational, and generational lines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This makes sense because mortgages are for houses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However, policy makers should be aware of these mechanics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Microsoft Macintosh PowerPoint</Application>
  <PresentationFormat>Widescreen</PresentationFormat>
  <Paragraphs>166</Paragraphs>
  <Slides>23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Playfair Display</vt:lpstr>
      <vt:lpstr>Play</vt:lpstr>
      <vt:lpstr>Arial</vt:lpstr>
      <vt:lpstr>Lato</vt:lpstr>
      <vt:lpstr>Coral</vt:lpstr>
      <vt:lpstr>Replication and Extension </vt:lpstr>
      <vt:lpstr>Outline</vt:lpstr>
      <vt:lpstr>What is the shock</vt:lpstr>
      <vt:lpstr>Context of Paper </vt:lpstr>
      <vt:lpstr>Identification Strategy </vt:lpstr>
      <vt:lpstr>Data</vt:lpstr>
      <vt:lpstr>Theoretical Framework</vt:lpstr>
      <vt:lpstr>Theoretical Framework: Heterogeneous Agent Life-Cycle Model</vt:lpstr>
      <vt:lpstr>Empirical Framework</vt:lpstr>
      <vt:lpstr>Empirical Framework: Estimating Equation</vt:lpstr>
      <vt:lpstr>Key Assumptions </vt:lpstr>
      <vt:lpstr>Why does the ID Strategy work? </vt:lpstr>
      <vt:lpstr>Replication findings/results</vt:lpstr>
      <vt:lpstr>Replication IRFs Overall</vt:lpstr>
      <vt:lpstr>Replication IRFs Age</vt:lpstr>
      <vt:lpstr>Replication IRFs Housing Tenure</vt:lpstr>
      <vt:lpstr>Extension Findings/Results</vt:lpstr>
      <vt:lpstr>Extension Findings/Results</vt:lpstr>
      <vt:lpstr>Extension IRFs Race</vt:lpstr>
      <vt:lpstr>Extension IRFs Education Level</vt:lpstr>
      <vt:lpstr>Extension IRFs Family Size</vt:lpstr>
      <vt:lpstr>Threats to Interpretation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zanelew@alumni.unc.edu</dc:creator>
  <cp:lastModifiedBy>zanelew@alumni.unc.edu</cp:lastModifiedBy>
  <cp:revision>2</cp:revision>
  <dcterms:created xsi:type="dcterms:W3CDTF">2026-05-01T20:58:23Z</dcterms:created>
  <dcterms:modified xsi:type="dcterms:W3CDTF">2026-05-14T11:08:03Z</dcterms:modified>
</cp:coreProperties>
</file>